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914400" cy="41148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>
              <a:defRPr sz="1100" b="1">
                <a:solidFill>
                  <a:srgbClr val="2A6F56"/>
                </a:solidFill>
              </a:defRPr>
            </a:pPr>
            <a:r>
              <a:t>SLIDE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064240" cy="50292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>
              <a:defRPr sz="2500" b="1">
                <a:solidFill>
                  <a:srgbClr val="18374E"/>
                </a:solidFill>
              </a:defRPr>
            </a:pPr>
            <a:r>
              <a:t>Pipeline de ingestão documental com Docling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170432"/>
            <a:ext cx="10972800" cy="384048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>
              <a:defRPr sz="1150" b="0">
                <a:solidFill>
                  <a:srgbClr val="697378"/>
                </a:solidFill>
              </a:defRPr>
            </a:pPr>
            <a:r>
              <a:t>Cenário de teste com texto, indicadores, lista estruturada e tabela nativa do PowerPoint.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1965960" cy="960120"/>
          </a:xfrm>
          <a:prstGeom prst="roundRect">
            <a:avLst/>
          </a:prstGeom>
          <a:solidFill>
            <a:srgbClr val="F2F6F4"/>
          </a:solidFill>
          <a:ln>
            <a:solidFill>
              <a:srgbClr val="E2E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847088"/>
            <a:ext cx="1737360" cy="347472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ctr">
              <a:defRPr sz="1900" b="1">
                <a:solidFill>
                  <a:srgbClr val="2A6F56"/>
                </a:solidFill>
              </a:defRPr>
            </a:pPr>
            <a: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249424"/>
            <a:ext cx="1737360" cy="256032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ctr">
              <a:defRPr sz="1050" b="0">
                <a:solidFill>
                  <a:srgbClr val="697378"/>
                </a:solidFill>
              </a:defRPr>
            </a:pPr>
            <a:r>
              <a:t>formatos previstos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88920" y="1737360"/>
            <a:ext cx="1965960" cy="960120"/>
          </a:xfrm>
          <a:prstGeom prst="roundRect">
            <a:avLst/>
          </a:prstGeom>
          <a:solidFill>
            <a:srgbClr val="F2F6F4"/>
          </a:solidFill>
          <a:ln>
            <a:solidFill>
              <a:srgbClr val="E2E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98648" y="1847088"/>
            <a:ext cx="1737360" cy="347472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ctr">
              <a:defRPr sz="1900" b="1">
                <a:solidFill>
                  <a:srgbClr val="2A6F56"/>
                </a:solidFill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98648" y="2249424"/>
            <a:ext cx="1737360" cy="256032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ctr">
              <a:defRPr sz="1050" b="0">
                <a:solidFill>
                  <a:srgbClr val="697378"/>
                </a:solidFill>
              </a:defRPr>
            </a:pPr>
            <a:r>
              <a:t>grupos de tratamento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1737360"/>
            <a:ext cx="1965960" cy="960120"/>
          </a:xfrm>
          <a:prstGeom prst="roundRect">
            <a:avLst/>
          </a:prstGeom>
          <a:solidFill>
            <a:srgbClr val="F2F6F4"/>
          </a:solidFill>
          <a:ln>
            <a:solidFill>
              <a:srgbClr val="E2E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38928" y="1847088"/>
            <a:ext cx="1737360" cy="347472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ctr">
              <a:defRPr sz="1900" b="1">
                <a:solidFill>
                  <a:srgbClr val="2A6F56"/>
                </a:solidFill>
              </a:defRPr>
            </a:pPr>
            <a:r>
              <a:t>Markdown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38928" y="2249424"/>
            <a:ext cx="1737360" cy="256032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ctr">
              <a:defRPr sz="1050" b="0">
                <a:solidFill>
                  <a:srgbClr val="697378"/>
                </a:solidFill>
              </a:defRPr>
            </a:pPr>
            <a:r>
              <a:t>saída documental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1737360"/>
            <a:ext cx="4297680" cy="960120"/>
          </a:xfrm>
          <a:prstGeom prst="roundRect">
            <a:avLst/>
          </a:prstGeom>
          <a:solidFill>
            <a:srgbClr val="18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79792" y="1892807"/>
            <a:ext cx="3977639" cy="566928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>
              <a:defRPr sz="1150" b="1">
                <a:solidFill>
                  <a:srgbClr val="FFFFFF"/>
                </a:solidFill>
              </a:defRPr>
            </a:pPr>
            <a:r>
              <a:t>Objetivo: identificar conteúdo e preservar a estrutura necessária para etapas posteriores de RAG.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971800"/>
            <a:ext cx="4754880" cy="3200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>
              <a:defRPr sz="1400" b="1">
                <a:solidFill>
                  <a:srgbClr val="18374E"/>
                </a:solidFill>
              </a:defRPr>
            </a:pPr>
            <a:r>
              <a:t>Etapas do processamento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364992"/>
            <a:ext cx="4892040" cy="310896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>
              <a:defRPr sz="1120" b="0">
                <a:solidFill>
                  <a:srgbClr val="20262A"/>
                </a:solidFill>
              </a:defRPr>
            </a:pPr>
            <a:r>
              <a:t>1. Detectar extensão e categoria do arquivo.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758184"/>
            <a:ext cx="4892040" cy="310896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>
              <a:defRPr sz="1120" b="0">
                <a:solidFill>
                  <a:srgbClr val="20262A"/>
                </a:solidFill>
              </a:defRPr>
            </a:pPr>
            <a:r>
              <a:t>2. Aplicar Docling, OCR ou parser específico.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151376"/>
            <a:ext cx="4892040" cy="310896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>
              <a:defRPr sz="1120" b="0">
                <a:solidFill>
                  <a:srgbClr val="20262A"/>
                </a:solidFill>
              </a:defRPr>
            </a:pPr>
            <a:r>
              <a:t>3. Normalizar texto, tabelas e metadados.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544568"/>
            <a:ext cx="4892040" cy="310896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>
              <a:defRPr sz="1120" b="0">
                <a:solidFill>
                  <a:srgbClr val="20262A"/>
                </a:solidFill>
              </a:defRPr>
            </a:pPr>
            <a:r>
              <a:t>4. Gerar saída adequada ao tipo de conteúdo.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937759"/>
            <a:ext cx="4892040" cy="310896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>
              <a:defRPr sz="1120" b="0">
                <a:solidFill>
                  <a:srgbClr val="20262A"/>
                </a:solidFill>
              </a:defRPr>
            </a:pPr>
            <a:r>
              <a:t>5. Preparar chunks, embeddings e recuperação.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5000" y="2971800"/>
            <a:ext cx="5897880" cy="3200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>
              <a:defRPr sz="1400" b="1">
                <a:solidFill>
                  <a:srgbClr val="18374E"/>
                </a:solidFill>
              </a:defRPr>
            </a:pPr>
            <a:r>
              <a:t>Matriz de formatos e tratamento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5715000" y="3364992"/>
          <a:ext cx="589788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4470"/>
                <a:gridCol w="1474470"/>
                <a:gridCol w="1474470"/>
                <a:gridCol w="1474470"/>
              </a:tblGrid>
              <a:tr h="40386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Formato</a:t>
                      </a:r>
                    </a:p>
                  </a:txBody>
                  <a:tcPr>
                    <a:solidFill>
                      <a:srgbClr val="2A6F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Grupo</a:t>
                      </a:r>
                    </a:p>
                  </a:txBody>
                  <a:tcPr>
                    <a:solidFill>
                      <a:srgbClr val="2A6F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Tratamento</a:t>
                      </a:r>
                    </a:p>
                  </a:txBody>
                  <a:tcPr>
                    <a:solidFill>
                      <a:srgbClr val="2A6F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Saída</a:t>
                      </a:r>
                    </a:p>
                  </a:txBody>
                  <a:tcPr>
                    <a:solidFill>
                      <a:srgbClr val="2A6F56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0262A"/>
                          </a:solidFill>
                        </a:defRPr>
                      </a:pPr>
                      <a:r>
                        <a:t>PDF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0262A"/>
                          </a:solidFill>
                        </a:defRPr>
                      </a:pPr>
                      <a:r>
                        <a:t>Documento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0262A"/>
                          </a:solidFill>
                        </a:defRPr>
                      </a:pPr>
                      <a:r>
                        <a:t>Docling / OCR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0262A"/>
                          </a:solidFill>
                        </a:defRPr>
                      </a:pPr>
                      <a:r>
                        <a:t>Markdown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0262A"/>
                          </a:solidFill>
                        </a:defRPr>
                      </a:pPr>
                      <a:r>
                        <a:t>DOCX / PPTX</a:t>
                      </a:r>
                    </a:p>
                  </a:txBody>
                  <a:tcPr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0262A"/>
                          </a:solidFill>
                        </a:defRPr>
                      </a:pPr>
                      <a:r>
                        <a:t>Documento</a:t>
                      </a:r>
                    </a:p>
                  </a:txBody>
                  <a:tcPr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0262A"/>
                          </a:solidFill>
                        </a:defRPr>
                      </a:pPr>
                      <a:r>
                        <a:t>Docling</a:t>
                      </a:r>
                    </a:p>
                  </a:txBody>
                  <a:tcPr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0262A"/>
                          </a:solidFill>
                        </a:defRPr>
                      </a:pPr>
                      <a:r>
                        <a:t>Markdown</a:t>
                      </a:r>
                    </a:p>
                  </a:txBody>
                  <a:tcPr>
                    <a:solidFill>
                      <a:srgbClr val="F2F6F4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0262A"/>
                          </a:solidFill>
                        </a:defRPr>
                      </a:pPr>
                      <a:r>
                        <a:t>PNG / JPG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0262A"/>
                          </a:solidFill>
                        </a:defRPr>
                      </a:pPr>
                      <a:r>
                        <a:t>Imagem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0262A"/>
                          </a:solidFill>
                        </a:defRPr>
                      </a:pPr>
                      <a:r>
                        <a:t>OCR / Docling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0262A"/>
                          </a:solidFill>
                        </a:defRPr>
                      </a:pPr>
                      <a:r>
                        <a:t>Markdown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0262A"/>
                          </a:solidFill>
                        </a:defRPr>
                      </a:pPr>
                      <a:r>
                        <a:t>CSV / XLSX</a:t>
                      </a:r>
                    </a:p>
                  </a:txBody>
                  <a:tcPr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0262A"/>
                          </a:solidFill>
                        </a:defRPr>
                      </a:pPr>
                      <a:r>
                        <a:t>Tabular</a:t>
                      </a:r>
                    </a:p>
                  </a:txBody>
                  <a:tcPr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0262A"/>
                          </a:solidFill>
                        </a:defRPr>
                      </a:pPr>
                      <a:r>
                        <a:t>Pandas / OpenPyXL</a:t>
                      </a:r>
                    </a:p>
                  </a:txBody>
                  <a:tcPr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0262A"/>
                          </a:solidFill>
                        </a:defRPr>
                      </a:pPr>
                      <a:r>
                        <a:t>Estruturado</a:t>
                      </a:r>
                    </a:p>
                  </a:txBody>
                  <a:tcPr>
                    <a:solidFill>
                      <a:srgbClr val="F2F6F4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0262A"/>
                          </a:solidFill>
                        </a:defRPr>
                      </a:pPr>
                      <a:r>
                        <a:t>JSON / XML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0262A"/>
                          </a:solidFill>
                        </a:defRPr>
                      </a:pPr>
                      <a:r>
                        <a:t>Estruturado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0262A"/>
                          </a:solidFill>
                        </a:defRPr>
                      </a:pPr>
                      <a:r>
                        <a:t>Parser nativo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0262A"/>
                          </a:solidFill>
                        </a:defRPr>
                      </a:pPr>
                      <a:r>
                        <a:t>Estruturado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566928" y="6144768"/>
            <a:ext cx="10972800" cy="292608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>
              <a:defRPr sz="1050" b="1">
                <a:solidFill>
                  <a:srgbClr val="2A6F56"/>
                </a:solidFill>
              </a:defRPr>
            </a:pPr>
            <a:r>
              <a:t>Teste importante: esta apresentação contém objetos nativos, não uma imagem única de cada slide.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914400" cy="41148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>
              <a:defRPr sz="1100" b="1">
                <a:solidFill>
                  <a:srgbClr val="2A6F56"/>
                </a:solidFill>
              </a:defRPr>
            </a:pPr>
            <a:r>
              <a:t>SLIDE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064240" cy="50292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>
              <a:defRPr sz="2500" b="1">
                <a:solidFill>
                  <a:srgbClr val="18374E"/>
                </a:solidFill>
              </a:defRPr>
            </a:pPr>
            <a:r>
              <a:t>Da extração ao RAG: conteúdo estruturado e recuperação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170432"/>
            <a:ext cx="10972800" cy="384048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>
              <a:defRPr sz="1150" b="0">
                <a:solidFill>
                  <a:srgbClr val="697378"/>
                </a:solidFill>
              </a:defRPr>
            </a:pPr>
            <a:r>
              <a:t>Segundo slide com duas tabelas, texto explicativo, metadados e um fluxo visual.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719072"/>
            <a:ext cx="5303520" cy="310896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>
              <a:defRPr sz="1400" b="1">
                <a:solidFill>
                  <a:srgbClr val="18374E"/>
                </a:solidFill>
              </a:defRPr>
            </a:pPr>
            <a:r>
              <a:t>Exemplo de documento processado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2084831"/>
          <a:ext cx="530352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840"/>
                <a:gridCol w="1767840"/>
                <a:gridCol w="1767840"/>
              </a:tblGrid>
              <a:tr h="41148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Campo</a:t>
                      </a:r>
                    </a:p>
                  </a:txBody>
                  <a:tcPr>
                    <a:solidFill>
                      <a:srgbClr val="1837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Valor</a:t>
                      </a:r>
                    </a:p>
                  </a:txBody>
                  <a:tcPr>
                    <a:solidFill>
                      <a:srgbClr val="1837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Uso no RAG</a:t>
                      </a:r>
                    </a:p>
                  </a:txBody>
                  <a:tcPr>
                    <a:solidFill>
                      <a:srgbClr val="18374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0262A"/>
                          </a:solidFill>
                        </a:defRPr>
                      </a:pPr>
                      <a:r>
                        <a:t>arquivo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0262A"/>
                          </a:solidFill>
                        </a:defRPr>
                      </a:pPr>
                      <a:r>
                        <a:t>relatorio_ambiental.pdf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0262A"/>
                          </a:solidFill>
                        </a:defRPr>
                      </a:pPr>
                      <a:r>
                        <a:t>rastreabilidade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0262A"/>
                          </a:solidFill>
                        </a:defRPr>
                      </a:pPr>
                      <a:r>
                        <a:t>tipo</a:t>
                      </a:r>
                    </a:p>
                  </a:txBody>
                  <a:tcPr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0262A"/>
                          </a:solidFill>
                        </a:defRPr>
                      </a:pPr>
                      <a:r>
                        <a:t>PDF digital + imagens</a:t>
                      </a:r>
                    </a:p>
                  </a:txBody>
                  <a:tcPr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0262A"/>
                          </a:solidFill>
                        </a:defRPr>
                      </a:pPr>
                      <a:r>
                        <a:t>roteamento</a:t>
                      </a:r>
                    </a:p>
                  </a:txBody>
                  <a:tcPr>
                    <a:solidFill>
                      <a:srgbClr val="F2F6F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0262A"/>
                          </a:solidFill>
                        </a:defRPr>
                      </a:pPr>
                      <a:r>
                        <a:t>páginas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0262A"/>
                          </a:solidFill>
                        </a:defRPr>
                      </a:pPr>
                      <a:r>
                        <a:t>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0262A"/>
                          </a:solidFill>
                        </a:defRPr>
                      </a:pPr>
                      <a:r>
                        <a:t>segmentação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0262A"/>
                          </a:solidFill>
                        </a:defRPr>
                      </a:pPr>
                      <a:r>
                        <a:t>idioma</a:t>
                      </a:r>
                    </a:p>
                  </a:txBody>
                  <a:tcPr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0262A"/>
                          </a:solidFill>
                        </a:defRPr>
                      </a:pPr>
                      <a:r>
                        <a:t>pt-BR</a:t>
                      </a:r>
                    </a:p>
                  </a:txBody>
                  <a:tcPr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0262A"/>
                          </a:solidFill>
                        </a:defRPr>
                      </a:pPr>
                      <a:r>
                        <a:t>OCR / modelo</a:t>
                      </a:r>
                    </a:p>
                  </a:txBody>
                  <a:tcPr>
                    <a:solidFill>
                      <a:srgbClr val="F2F6F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0262A"/>
                          </a:solidFill>
                        </a:defRPr>
                      </a:pPr>
                      <a:r>
                        <a:t>tabelas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0262A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0262A"/>
                          </a:solidFill>
                        </a:defRPr>
                      </a:pPr>
                      <a:r>
                        <a:t>extração estruturada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0262A"/>
                          </a:solidFill>
                        </a:defRPr>
                      </a:pPr>
                      <a:r>
                        <a:t>imagens</a:t>
                      </a:r>
                    </a:p>
                  </a:txBody>
                  <a:tcPr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0262A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0262A"/>
                          </a:solidFill>
                        </a:defRPr>
                      </a:pPr>
                      <a:r>
                        <a:t>contexto multimodal</a:t>
                      </a:r>
                    </a:p>
                  </a:txBody>
                  <a:tcPr>
                    <a:solidFill>
                      <a:srgbClr val="F2F6F4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144768" y="1719072"/>
            <a:ext cx="5440680" cy="310896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>
              <a:defRPr sz="1400" b="1">
                <a:solidFill>
                  <a:srgbClr val="18374E"/>
                </a:solidFill>
              </a:defRPr>
            </a:pPr>
            <a:r>
              <a:t>Parâmetros de preparação para recuperação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44768" y="2084831"/>
          <a:ext cx="54406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0170"/>
                <a:gridCol w="1360170"/>
                <a:gridCol w="1360170"/>
                <a:gridCol w="1360170"/>
              </a:tblGrid>
              <a:tr h="402336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Parâmetro</a:t>
                      </a:r>
                    </a:p>
                  </a:txBody>
                  <a:tcPr>
                    <a:solidFill>
                      <a:srgbClr val="2A6F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Valor</a:t>
                      </a:r>
                    </a:p>
                  </a:txBody>
                  <a:tcPr>
                    <a:solidFill>
                      <a:srgbClr val="2A6F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Função</a:t>
                      </a:r>
                    </a:p>
                  </a:txBody>
                  <a:tcPr>
                    <a:solidFill>
                      <a:srgbClr val="2A6F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Exemplo</a:t>
                      </a:r>
                    </a:p>
                  </a:txBody>
                  <a:tcPr>
                    <a:solidFill>
                      <a:srgbClr val="2A6F5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20262A"/>
                          </a:solidFill>
                        </a:defRPr>
                      </a:pPr>
                      <a:r>
                        <a:t>chunk_size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20262A"/>
                          </a:solidFill>
                        </a:defRPr>
                      </a:pPr>
                      <a:r>
                        <a:t>1000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20262A"/>
                          </a:solidFill>
                        </a:defRPr>
                      </a:pPr>
                      <a:r>
                        <a:t>tamanho do trecho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20262A"/>
                          </a:solidFill>
                        </a:defRPr>
                      </a:pPr>
                      <a:r>
                        <a:t>tokens/caracteres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20262A"/>
                          </a:solidFill>
                        </a:defRPr>
                      </a:pPr>
                      <a:r>
                        <a:t>overlap</a:t>
                      </a:r>
                    </a:p>
                  </a:txBody>
                  <a:tcPr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20262A"/>
                          </a:solidFill>
                        </a:defRPr>
                      </a:pPr>
                      <a:r>
                        <a:t>150</a:t>
                      </a:r>
                    </a:p>
                  </a:txBody>
                  <a:tcPr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20262A"/>
                          </a:solidFill>
                        </a:defRPr>
                      </a:pPr>
                      <a:r>
                        <a:t>continuidade</a:t>
                      </a:r>
                    </a:p>
                  </a:txBody>
                  <a:tcPr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20262A"/>
                          </a:solidFill>
                        </a:defRPr>
                      </a:pPr>
                      <a:r>
                        <a:t>entre chunks</a:t>
                      </a:r>
                    </a:p>
                  </a:txBody>
                  <a:tcPr>
                    <a:solidFill>
                      <a:srgbClr val="F2F6F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20262A"/>
                          </a:solidFill>
                        </a:defRPr>
                      </a:pPr>
                      <a:r>
                        <a:t>metadata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20262A"/>
                          </a:solidFill>
                        </a:defRPr>
                      </a:pPr>
                      <a:r>
                        <a:t>sim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20262A"/>
                          </a:solidFill>
                        </a:defRPr>
                      </a:pPr>
                      <a:r>
                        <a:t>filtros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20262A"/>
                          </a:solidFill>
                        </a:defRPr>
                      </a:pPr>
                      <a:r>
                        <a:t>arquivo/página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20262A"/>
                          </a:solidFill>
                        </a:defRPr>
                      </a:pPr>
                      <a:r>
                        <a:t>embedding</a:t>
                      </a:r>
                    </a:p>
                  </a:txBody>
                  <a:tcPr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20262A"/>
                          </a:solidFill>
                        </a:defRPr>
                      </a:pPr>
                      <a:r>
                        <a:t>vetorial</a:t>
                      </a:r>
                    </a:p>
                  </a:txBody>
                  <a:tcPr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20262A"/>
                          </a:solidFill>
                        </a:defRPr>
                      </a:pPr>
                      <a:r>
                        <a:t>similaridade</a:t>
                      </a:r>
                    </a:p>
                  </a:txBody>
                  <a:tcPr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20262A"/>
                          </a:solidFill>
                        </a:defRPr>
                      </a:pPr>
                      <a:r>
                        <a:t>busca semântica</a:t>
                      </a:r>
                    </a:p>
                  </a:txBody>
                  <a:tcPr>
                    <a:solidFill>
                      <a:srgbClr val="F2F6F4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44768" y="4325112"/>
            <a:ext cx="5440680" cy="27432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>
              <a:defRPr sz="1300" b="1">
                <a:solidFill>
                  <a:srgbClr val="18374E"/>
                </a:solidFill>
              </a:defRPr>
            </a:pPr>
            <a:r>
              <a:t>Fluxo lógico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4800600"/>
            <a:ext cx="1234440" cy="566928"/>
          </a:xfrm>
          <a:prstGeom prst="roundRect">
            <a:avLst/>
          </a:prstGeom>
          <a:solidFill>
            <a:srgbClr val="2A6F56"/>
          </a:solidFill>
          <a:ln>
            <a:solidFill>
              <a:srgbClr val="2A6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Arquivo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1929384" y="4956048"/>
            <a:ext cx="283464" cy="246888"/>
          </a:xfrm>
          <a:prstGeom prst="rightArrow">
            <a:avLst/>
          </a:prstGeom>
          <a:solidFill>
            <a:srgbClr val="C09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286000" y="4800600"/>
            <a:ext cx="1234440" cy="566928"/>
          </a:xfrm>
          <a:prstGeom prst="roundRect">
            <a:avLst/>
          </a:prstGeom>
          <a:solidFill>
            <a:srgbClr val="E2EEE9"/>
          </a:solidFill>
          <a:ln>
            <a:solidFill>
              <a:srgbClr val="2A6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0262A"/>
                </a:solidFill>
              </a:defRPr>
            </a:pPr>
            <a:r>
              <a:t>Docling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557015" y="4956048"/>
            <a:ext cx="283464" cy="246888"/>
          </a:xfrm>
          <a:prstGeom prst="rightArrow">
            <a:avLst/>
          </a:prstGeom>
          <a:solidFill>
            <a:srgbClr val="C09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913632" y="4800600"/>
            <a:ext cx="1234440" cy="566928"/>
          </a:xfrm>
          <a:prstGeom prst="roundRect">
            <a:avLst/>
          </a:prstGeom>
          <a:solidFill>
            <a:srgbClr val="E2EEE9"/>
          </a:solidFill>
          <a:ln>
            <a:solidFill>
              <a:srgbClr val="2A6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0262A"/>
                </a:solidFill>
              </a:defRPr>
            </a:pPr>
            <a:r>
              <a:t>Markdown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184648" y="4956048"/>
            <a:ext cx="283464" cy="246888"/>
          </a:xfrm>
          <a:prstGeom prst="rightArrow">
            <a:avLst/>
          </a:prstGeom>
          <a:solidFill>
            <a:srgbClr val="C09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541264" y="4800600"/>
            <a:ext cx="1234440" cy="566928"/>
          </a:xfrm>
          <a:prstGeom prst="roundRect">
            <a:avLst/>
          </a:prstGeom>
          <a:solidFill>
            <a:srgbClr val="E2EEE9"/>
          </a:solidFill>
          <a:ln>
            <a:solidFill>
              <a:srgbClr val="2A6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0262A"/>
                </a:solidFill>
              </a:defRPr>
            </a:pPr>
            <a:r>
              <a:t>Chunks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812279" y="4956048"/>
            <a:ext cx="283464" cy="246888"/>
          </a:xfrm>
          <a:prstGeom prst="rightArrow">
            <a:avLst/>
          </a:prstGeom>
          <a:solidFill>
            <a:srgbClr val="C09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68896" y="4800600"/>
            <a:ext cx="1234440" cy="566928"/>
          </a:xfrm>
          <a:prstGeom prst="roundRect">
            <a:avLst/>
          </a:prstGeom>
          <a:solidFill>
            <a:srgbClr val="E2EEE9"/>
          </a:solidFill>
          <a:ln>
            <a:solidFill>
              <a:srgbClr val="2A6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0262A"/>
                </a:solidFill>
              </a:defRPr>
            </a:pPr>
            <a:r>
              <a:t>Vetores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439912" y="4956048"/>
            <a:ext cx="283464" cy="246888"/>
          </a:xfrm>
          <a:prstGeom prst="rightArrow">
            <a:avLst/>
          </a:prstGeom>
          <a:solidFill>
            <a:srgbClr val="C09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796528" y="4800600"/>
            <a:ext cx="1234440" cy="566928"/>
          </a:xfrm>
          <a:prstGeom prst="roundRect">
            <a:avLst/>
          </a:prstGeom>
          <a:solidFill>
            <a:srgbClr val="E2EEE9"/>
          </a:solidFill>
          <a:ln>
            <a:solidFill>
              <a:srgbClr val="2A6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0262A"/>
                </a:solidFill>
              </a:defRPr>
            </a:pPr>
            <a:r>
              <a:t>Retriever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10067544" y="4956048"/>
            <a:ext cx="283464" cy="246888"/>
          </a:xfrm>
          <a:prstGeom prst="rightArrow">
            <a:avLst/>
          </a:prstGeom>
          <a:solidFill>
            <a:srgbClr val="C09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424160" y="4800600"/>
            <a:ext cx="1234440" cy="566928"/>
          </a:xfrm>
          <a:prstGeom prst="roundRect">
            <a:avLst/>
          </a:prstGeom>
          <a:solidFill>
            <a:srgbClr val="2A6F56"/>
          </a:solidFill>
          <a:ln>
            <a:solidFill>
              <a:srgbClr val="2A6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LLM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5650992"/>
            <a:ext cx="10972800" cy="512064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>
              <a:defRPr sz="1070" b="0">
                <a:solidFill>
                  <a:srgbClr val="20262A"/>
                </a:solidFill>
              </a:defRPr>
            </a:pPr>
            <a:r>
              <a:t>Resultado esperado do teste: extrair os textos na ordem correta, reconhecer as duas tabelas como estruturas tabulares e manter informações suficientes para reconstruir o contexto de cada slide.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